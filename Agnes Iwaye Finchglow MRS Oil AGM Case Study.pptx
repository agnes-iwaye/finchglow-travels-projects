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A3BF04-9DCB-4A08-B82F-84BB87471027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ACCOUNT + PROJECT MANAGEMENT PORTFOLIO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F67855-3258-48E3-A117-08DAE4E23902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72390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925"/>
          </a:bodyPr>
          <a:lstStyle/>
          <a:p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Delivering an international AGM travel program through disruption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D1E6E2-00A9-4D15-A7D2-10F013CE111B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61912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00"/>
          </a:bodyPr>
          <a:lstStyle/>
          <a:p>
            <a:pPr algn="l">
              <a:defRPr sz="20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MRS Oil </a:t>
            </a:r>
            <a:r>
              <a:rPr lang="en-US"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</a:t>
            </a: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nnual </a:t>
            </a:r>
            <a:r>
              <a:rPr lang="en-US" sz="2025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G</a:t>
            </a: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eneral </a:t>
            </a:r>
            <a:r>
              <a:rPr lang="en-US" sz="2025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</a:t>
            </a: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eeting</a:t>
            </a:r>
            <a:r>
              <a:rPr lang="en-US"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 (AGM)</a:t>
            </a: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 travel program</a:t>
            </a:r>
          </a:p>
          <a:p>
            <a:pPr algn="l">
              <a:defRPr sz="20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Nairobi, Kenya | Feb 2020–Mar 2021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E5AAD1-4D8D-4664-A42A-86BB56CCCA69}"/>
              </a:ext>
            </a:extLst>
          </p:cNvPr>
          <p:cNvSpPr>
            <a:spLocks noGrp="1"/>
          </p:cNvSpPr>
          <p:nvPr/>
        </p:nvSpPr>
        <p:spPr>
          <a:xfrm>
            <a:off x="8239125" y="714375"/>
            <a:ext cx="3143250" cy="4857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E27CF-95FC-4AE0-9CF3-92BFF7CD817C}"/>
              </a:ext>
            </a:extLst>
          </p:cNvPr>
          <p:cNvSpPr>
            <a:spLocks noGrp="1"/>
          </p:cNvSpPr>
          <p:nvPr/>
        </p:nvSpPr>
        <p:spPr>
          <a:xfrm>
            <a:off x="8620125" y="1238250"/>
            <a:ext cx="238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AE0F98-8120-4340-8F34-C42CC8495689}"/>
              </a:ext>
            </a:extLst>
          </p:cNvPr>
          <p:cNvSpPr>
            <a:spLocks noGrp="1"/>
          </p:cNvSpPr>
          <p:nvPr/>
        </p:nvSpPr>
        <p:spPr>
          <a:xfrm>
            <a:off x="8620125" y="209550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travelers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0CAE8B-F829-4CD4-9603-1CACD96678A0}"/>
              </a:ext>
            </a:extLst>
          </p:cNvPr>
          <p:cNvSpPr>
            <a:spLocks noGrp="1"/>
          </p:cNvSpPr>
          <p:nvPr/>
        </p:nvSpPr>
        <p:spPr>
          <a:xfrm>
            <a:off x="9001125" y="3067050"/>
            <a:ext cx="16192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02CB4-BC8C-468F-8C20-37117DE13F28}"/>
              </a:ext>
            </a:extLst>
          </p:cNvPr>
          <p:cNvSpPr>
            <a:spLocks noGrp="1"/>
          </p:cNvSpPr>
          <p:nvPr/>
        </p:nvSpPr>
        <p:spPr>
          <a:xfrm>
            <a:off x="8477250" y="3381375"/>
            <a:ext cx="266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₦165m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D6050-E848-4D82-8B62-7E6068B69AB0}"/>
              </a:ext>
            </a:extLst>
          </p:cNvPr>
          <p:cNvSpPr>
            <a:spLocks noGrp="1"/>
          </p:cNvSpPr>
          <p:nvPr/>
        </p:nvSpPr>
        <p:spPr>
          <a:xfrm>
            <a:off x="8620125" y="423862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5D6673"/>
                </a:solidFill>
                <a:latin typeface="Arial"/>
                <a:ea typeface="Arial"/>
                <a:cs typeface="Arial"/>
              </a:rPr>
              <a:t>revised budget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52B1F-811B-4A05-B240-8998C1E97A43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Agnes Iwaye | Account Manager / Project Lead</a:t>
            </a:r>
          </a:p>
        </p:txBody>
      </p:sp>
    </p:spTree>
    <p:extLst>
      <p:ext uri="{BB962C8B-B14F-4D97-AF65-F5344CB8AC3E}">
        <p14:creationId xmlns:p14="http://schemas.microsoft.com/office/powerpoint/2010/main" val="86487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title">
            <a:extLst>
              <a:ext uri="{FF2B5EF4-FFF2-40B4-BE49-F238E27FC236}">
                <a16:creationId xmlns:a16="http://schemas.microsoft.com/office/drawing/2014/main" id="{0CDD36E1-85EC-4455-9163-B4B62DC96EE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06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routine annual trip became a high-risk transformation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CAC28-3CD5-489D-9AF3-4AE8413AA7D7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CF4842-DACE-4F61-8AD7-A36BE6584C8F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3AB57-9CBB-47E5-AC83-1178F942587D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ORIGINAL BRIEF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D8B023-F709-4940-AD32-7A8F60DE36BC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5725"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Coordinate a seamless AGM trip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A0CAE-856F-4928-86C0-449F70A21085}"/>
              </a:ext>
            </a:extLst>
          </p:cNvPr>
          <p:cNvSpPr>
            <a:spLocks noGrp="1"/>
          </p:cNvSpPr>
          <p:nvPr/>
        </p:nvSpPr>
        <p:spPr>
          <a:xfrm>
            <a:off x="400050" y="25717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Flights, accommodation, conference space, local transport, leisure activities and executive-level traveler support for a large employee group.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254233-71FE-4A45-AD4C-38E4AC21AC8D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4953000" cy="1095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84769E-1A98-41E7-90EF-E1B99D91CE63}"/>
              </a:ext>
            </a:extLst>
          </p:cNvPr>
          <p:cNvSpPr>
            <a:spLocks noGrp="1"/>
          </p:cNvSpPr>
          <p:nvPr/>
        </p:nvSpPr>
        <p:spPr>
          <a:xfrm>
            <a:off x="619125" y="4476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333"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scale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D6BDAC-DDCE-48B5-9F9D-F4AE3BFDDD52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180 travelers • 5 days / 4 nights • multiple Nigerian and Kenyan suppliers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3C5529-4874-438E-B638-E5E922EB3FD0}"/>
              </a:ext>
            </a:extLst>
          </p:cNvPr>
          <p:cNvSpPr>
            <a:spLocks noGrp="1"/>
          </p:cNvSpPr>
          <p:nvPr/>
        </p:nvSpPr>
        <p:spPr>
          <a:xfrm>
            <a:off x="6572250" y="1428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DISRUPTION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23411-0097-498E-9784-44AB700B040F}"/>
              </a:ext>
            </a:extLst>
          </p:cNvPr>
          <p:cNvSpPr>
            <a:spLocks noGrp="1"/>
          </p:cNvSpPr>
          <p:nvPr/>
        </p:nvSpPr>
        <p:spPr>
          <a:xfrm>
            <a:off x="6572250" y="185737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254"/>
          </a:bodyPr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COVID changed the constraints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37D71-B56F-4944-A30A-3F46A8EF9281}"/>
              </a:ext>
            </a:extLst>
          </p:cNvPr>
          <p:cNvSpPr>
            <a:spLocks noGrp="1"/>
          </p:cNvSpPr>
          <p:nvPr/>
        </p:nvSpPr>
        <p:spPr>
          <a:xfrm>
            <a:off x="6572250" y="2571750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Evolving entry, testing, health-documentation, capacity, insurance and supplier requirements increased cost and reduced schedule certainty.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1799ED-AB8C-45A7-928E-AD74CAAE775A}"/>
              </a:ext>
            </a:extLst>
          </p:cNvPr>
          <p:cNvSpPr>
            <a:spLocks noGrp="1"/>
          </p:cNvSpPr>
          <p:nvPr/>
        </p:nvSpPr>
        <p:spPr>
          <a:xfrm>
            <a:off x="6572250" y="4333875"/>
            <a:ext cx="4953000" cy="1095375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ECCB02-7040-4B7C-8717-67870067E632}"/>
              </a:ext>
            </a:extLst>
          </p:cNvPr>
          <p:cNvSpPr>
            <a:spLocks noGrp="1"/>
          </p:cNvSpPr>
          <p:nvPr/>
        </p:nvSpPr>
        <p:spPr>
          <a:xfrm>
            <a:off x="6810375" y="44767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333"/>
          </a:bodyPr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Management response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0E1C7F-5D2A-4404-84A6-CCB6C946131D}"/>
              </a:ext>
            </a:extLst>
          </p:cNvPr>
          <p:cNvSpPr>
            <a:spLocks noGrp="1"/>
          </p:cNvSpPr>
          <p:nvPr/>
        </p:nvSpPr>
        <p:spPr>
          <a:xfrm>
            <a:off x="6810375" y="4810125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Rebaseline scope, budget, risk controls, vendor terms, communications and emergency readiness.</a:t>
            </a:r>
          </a:p>
        </p:txBody>
      </p:sp>
    </p:spTree>
    <p:extLst>
      <p:ext uri="{BB962C8B-B14F-4D97-AF65-F5344CB8AC3E}">
        <p14:creationId xmlns:p14="http://schemas.microsoft.com/office/powerpoint/2010/main" val="104609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CB13F4A2-7E01-4459-9C11-5E032364D94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98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 coordinated one operating model across nine stakeholder groups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6D3C4B-BBB1-4336-AF62-69045C1DBB7A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111C6-341E-4ADF-90B1-0AF2C84F10D6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A0C33-AE14-4BF8-ADD9-20733CF26AA8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2476500" cy="3429000"/>
          </a:xfrm>
          <a:prstGeom prst="rect">
            <a:avLst/>
          </a:prstGeom>
          <a:solidFill>
            <a:srgbClr val="E8F5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1ACD1C-95B1-45ED-904D-53CB5DC488BD}"/>
              </a:ext>
            </a:extLst>
          </p:cNvPr>
          <p:cNvSpPr>
            <a:spLocks noGrp="1"/>
          </p:cNvSpPr>
          <p:nvPr/>
        </p:nvSpPr>
        <p:spPr>
          <a:xfrm>
            <a:off x="590550" y="1905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D337C8-9944-4D97-82B2-0AAE0356F9F2}"/>
              </a:ext>
            </a:extLst>
          </p:cNvPr>
          <p:cNvSpPr>
            <a:spLocks noGrp="1"/>
          </p:cNvSpPr>
          <p:nvPr/>
        </p:nvSpPr>
        <p:spPr>
          <a:xfrm>
            <a:off x="628650" y="2476500"/>
            <a:ext cx="20193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MRS Oil sponsor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HR / traveler coordinators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Executives and employees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17DB17-8F6F-4A0B-93EA-C8C4B2A83376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476500" cy="34290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AC491A-3D40-4803-B799-12DBE956655D}"/>
              </a:ext>
            </a:extLst>
          </p:cNvPr>
          <p:cNvSpPr>
            <a:spLocks noGrp="1"/>
          </p:cNvSpPr>
          <p:nvPr/>
        </p:nvSpPr>
        <p:spPr>
          <a:xfrm>
            <a:off x="3448050" y="1905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B1822-A110-4603-BFEC-766C53EC5199}"/>
              </a:ext>
            </a:extLst>
          </p:cNvPr>
          <p:cNvSpPr>
            <a:spLocks noGrp="1"/>
          </p:cNvSpPr>
          <p:nvPr/>
        </p:nvSpPr>
        <p:spPr>
          <a:xfrm>
            <a:off x="3486150" y="2476500"/>
            <a:ext cx="20193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Travel consultants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Finance and credit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Finchglow Holidays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leadership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E89011-1D98-4E79-AD2D-BD19BAD1A7CC}"/>
              </a:ext>
            </a:extLst>
          </p:cNvPr>
          <p:cNvSpPr>
            <a:spLocks noGrp="1"/>
          </p:cNvSpPr>
          <p:nvPr/>
        </p:nvSpPr>
        <p:spPr>
          <a:xfrm>
            <a:off x="6115050" y="1666875"/>
            <a:ext cx="2476500" cy="34290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002F23-F580-4BC5-8A7F-79820CCA65A6}"/>
              </a:ext>
            </a:extLst>
          </p:cNvPr>
          <p:cNvSpPr>
            <a:spLocks noGrp="1"/>
          </p:cNvSpPr>
          <p:nvPr/>
        </p:nvSpPr>
        <p:spPr>
          <a:xfrm>
            <a:off x="6305550" y="1905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KENYA DELIVERY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A5D77-5ABA-4D9C-B3FF-63151A501FAF}"/>
              </a:ext>
            </a:extLst>
          </p:cNvPr>
          <p:cNvSpPr>
            <a:spLocks noGrp="1"/>
          </p:cNvSpPr>
          <p:nvPr/>
        </p:nvSpPr>
        <p:spPr>
          <a:xfrm>
            <a:off x="6343650" y="2476500"/>
            <a:ext cx="20193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Hotel and conference venue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Ground transport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Destination activities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coordination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4DF43D-C3CF-4E30-8F07-BC9C9534E289}"/>
              </a:ext>
            </a:extLst>
          </p:cNvPr>
          <p:cNvSpPr>
            <a:spLocks noGrp="1"/>
          </p:cNvSpPr>
          <p:nvPr/>
        </p:nvSpPr>
        <p:spPr>
          <a:xfrm>
            <a:off x="8972550" y="1666875"/>
            <a:ext cx="2476500" cy="3429000"/>
          </a:xfrm>
          <a:prstGeom prst="rect">
            <a:avLst/>
          </a:prstGeom>
          <a:solidFill>
            <a:srgbClr val="F7F8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64C305-ED5D-487E-9FB9-ED2BC719F044}"/>
              </a:ext>
            </a:extLst>
          </p:cNvPr>
          <p:cNvSpPr>
            <a:spLocks noGrp="1"/>
          </p:cNvSpPr>
          <p:nvPr/>
        </p:nvSpPr>
        <p:spPr>
          <a:xfrm>
            <a:off x="9163050" y="1905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7E52D1-F19A-4FF2-BE20-E055153A8CD6}"/>
              </a:ext>
            </a:extLst>
          </p:cNvPr>
          <p:cNvSpPr>
            <a:spLocks noGrp="1"/>
          </p:cNvSpPr>
          <p:nvPr/>
        </p:nvSpPr>
        <p:spPr>
          <a:xfrm>
            <a:off x="9201150" y="2476500"/>
            <a:ext cx="20193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Medical partner / doctor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Insurance support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 and escalation contacts</a:t>
            </a:r>
          </a:p>
          <a:p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suppliers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17E01D-3235-428F-8F7F-8255D7A35FCC}"/>
              </a:ext>
            </a:extLst>
          </p:cNvPr>
          <p:cNvSpPr>
            <a:spLocks noGrp="1"/>
          </p:cNvSpPr>
          <p:nvPr/>
        </p:nvSpPr>
        <p:spPr>
          <a:xfrm>
            <a:off x="1809750" y="5476875"/>
            <a:ext cx="8572500" cy="6667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81EAD-7ED8-479E-88A0-CC9880175A6E}"/>
              </a:ext>
            </a:extLst>
          </p:cNvPr>
          <p:cNvSpPr>
            <a:spLocks noGrp="1"/>
          </p:cNvSpPr>
          <p:nvPr/>
        </p:nvSpPr>
        <p:spPr>
          <a:xfrm>
            <a:off x="2095500" y="5600700"/>
            <a:ext cx="800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741"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 role: translate client needs into one schedule, one budget, one risk view and one daily execution plan</a:t>
            </a:r>
          </a:p>
        </p:txBody>
      </p:sp>
    </p:spTree>
    <p:extLst>
      <p:ext uri="{BB962C8B-B14F-4D97-AF65-F5344CB8AC3E}">
        <p14:creationId xmlns:p14="http://schemas.microsoft.com/office/powerpoint/2010/main" val="423902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-title">
            <a:extLst>
              <a:ext uri="{FF2B5EF4-FFF2-40B4-BE49-F238E27FC236}">
                <a16:creationId xmlns:a16="http://schemas.microsoft.com/office/drawing/2014/main" id="{EE5FAEBD-EDF0-4940-9873-ADB415A9261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546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fourteen-month roadmap protected momentum through uncertainty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816F5-677A-4D50-A076-F84954DCC397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A7B59-20D7-4BAD-8E8E-01AC412D4EDE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C67E07-536C-43AE-A87C-9A229E691F9F}"/>
              </a:ext>
            </a:extLst>
          </p:cNvPr>
          <p:cNvSpPr>
            <a:spLocks noGrp="1"/>
          </p:cNvSpPr>
          <p:nvPr/>
        </p:nvSpPr>
        <p:spPr>
          <a:xfrm>
            <a:off x="26193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21207-809F-4B09-8D68-A63081478211}"/>
              </a:ext>
            </a:extLst>
          </p:cNvPr>
          <p:cNvSpPr>
            <a:spLocks noGrp="1"/>
          </p:cNvSpPr>
          <p:nvPr/>
        </p:nvSpPr>
        <p:spPr>
          <a:xfrm>
            <a:off x="26193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AF1168-B24B-4274-A797-0DD76DC6603B}"/>
              </a:ext>
            </a:extLst>
          </p:cNvPr>
          <p:cNvSpPr>
            <a:spLocks noGrp="1"/>
          </p:cNvSpPr>
          <p:nvPr/>
        </p:nvSpPr>
        <p:spPr>
          <a:xfrm>
            <a:off x="324802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47A50-FF09-4A35-91DE-0A134D9DE8B5}"/>
              </a:ext>
            </a:extLst>
          </p:cNvPr>
          <p:cNvSpPr>
            <a:spLocks noGrp="1"/>
          </p:cNvSpPr>
          <p:nvPr/>
        </p:nvSpPr>
        <p:spPr>
          <a:xfrm>
            <a:off x="32480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FE737D-797C-434D-A493-E43013A7C972}"/>
              </a:ext>
            </a:extLst>
          </p:cNvPr>
          <p:cNvSpPr>
            <a:spLocks noGrp="1"/>
          </p:cNvSpPr>
          <p:nvPr/>
        </p:nvSpPr>
        <p:spPr>
          <a:xfrm>
            <a:off x="38766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9F2308-6294-473E-BF03-F0D5733D6206}"/>
              </a:ext>
            </a:extLst>
          </p:cNvPr>
          <p:cNvSpPr>
            <a:spLocks noGrp="1"/>
          </p:cNvSpPr>
          <p:nvPr/>
        </p:nvSpPr>
        <p:spPr>
          <a:xfrm>
            <a:off x="38766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D29A1-F556-4EF4-9EA0-BC13975C2676}"/>
              </a:ext>
            </a:extLst>
          </p:cNvPr>
          <p:cNvSpPr>
            <a:spLocks noGrp="1"/>
          </p:cNvSpPr>
          <p:nvPr/>
        </p:nvSpPr>
        <p:spPr>
          <a:xfrm>
            <a:off x="450532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E7CA3-AF05-43CF-B729-18D672236F14}"/>
              </a:ext>
            </a:extLst>
          </p:cNvPr>
          <p:cNvSpPr>
            <a:spLocks noGrp="1"/>
          </p:cNvSpPr>
          <p:nvPr/>
        </p:nvSpPr>
        <p:spPr>
          <a:xfrm>
            <a:off x="45053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A7E780-657A-4122-8C3E-A53F2E91F610}"/>
              </a:ext>
            </a:extLst>
          </p:cNvPr>
          <p:cNvSpPr>
            <a:spLocks noGrp="1"/>
          </p:cNvSpPr>
          <p:nvPr/>
        </p:nvSpPr>
        <p:spPr>
          <a:xfrm>
            <a:off x="51339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E82B4-F4BD-4281-8644-D7308CD2432C}"/>
              </a:ext>
            </a:extLst>
          </p:cNvPr>
          <p:cNvSpPr>
            <a:spLocks noGrp="1"/>
          </p:cNvSpPr>
          <p:nvPr/>
        </p:nvSpPr>
        <p:spPr>
          <a:xfrm>
            <a:off x="51339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JUN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C7BBCB-A91B-4A59-A617-2ABB4105AB4D}"/>
              </a:ext>
            </a:extLst>
          </p:cNvPr>
          <p:cNvSpPr>
            <a:spLocks noGrp="1"/>
          </p:cNvSpPr>
          <p:nvPr/>
        </p:nvSpPr>
        <p:spPr>
          <a:xfrm>
            <a:off x="576262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668B57-9220-49C1-9D9B-08201B3E3340}"/>
              </a:ext>
            </a:extLst>
          </p:cNvPr>
          <p:cNvSpPr>
            <a:spLocks noGrp="1"/>
          </p:cNvSpPr>
          <p:nvPr/>
        </p:nvSpPr>
        <p:spPr>
          <a:xfrm>
            <a:off x="57626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JUL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5C376C-A1DB-4BC5-B165-49544F760DE5}"/>
              </a:ext>
            </a:extLst>
          </p:cNvPr>
          <p:cNvSpPr>
            <a:spLocks noGrp="1"/>
          </p:cNvSpPr>
          <p:nvPr/>
        </p:nvSpPr>
        <p:spPr>
          <a:xfrm>
            <a:off x="63912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05A1F4-AB2D-4C92-9C8F-43B70EFE77F4}"/>
              </a:ext>
            </a:extLst>
          </p:cNvPr>
          <p:cNvSpPr>
            <a:spLocks noGrp="1"/>
          </p:cNvSpPr>
          <p:nvPr/>
        </p:nvSpPr>
        <p:spPr>
          <a:xfrm>
            <a:off x="63912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D0761D-F19B-4666-82DB-575B7277F970}"/>
              </a:ext>
            </a:extLst>
          </p:cNvPr>
          <p:cNvSpPr>
            <a:spLocks noGrp="1"/>
          </p:cNvSpPr>
          <p:nvPr/>
        </p:nvSpPr>
        <p:spPr>
          <a:xfrm>
            <a:off x="701992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CDC006-B7BD-4C53-BCBD-E55F34709641}"/>
              </a:ext>
            </a:extLst>
          </p:cNvPr>
          <p:cNvSpPr>
            <a:spLocks noGrp="1"/>
          </p:cNvSpPr>
          <p:nvPr/>
        </p:nvSpPr>
        <p:spPr>
          <a:xfrm>
            <a:off x="70199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DDE111-9B16-4B53-B157-939E45D89200}"/>
              </a:ext>
            </a:extLst>
          </p:cNvPr>
          <p:cNvSpPr>
            <a:spLocks noGrp="1"/>
          </p:cNvSpPr>
          <p:nvPr/>
        </p:nvSpPr>
        <p:spPr>
          <a:xfrm>
            <a:off x="76485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D7FAB0-57D8-41AA-B4C7-1D6D0DB54255}"/>
              </a:ext>
            </a:extLst>
          </p:cNvPr>
          <p:cNvSpPr>
            <a:spLocks noGrp="1"/>
          </p:cNvSpPr>
          <p:nvPr/>
        </p:nvSpPr>
        <p:spPr>
          <a:xfrm>
            <a:off x="76485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B11E47-5508-4746-838B-0A0D8589A55C}"/>
              </a:ext>
            </a:extLst>
          </p:cNvPr>
          <p:cNvSpPr>
            <a:spLocks noGrp="1"/>
          </p:cNvSpPr>
          <p:nvPr/>
        </p:nvSpPr>
        <p:spPr>
          <a:xfrm>
            <a:off x="827722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1844FD-DE47-4B62-AF6F-07A7AB82EF7B}"/>
              </a:ext>
            </a:extLst>
          </p:cNvPr>
          <p:cNvSpPr>
            <a:spLocks noGrp="1"/>
          </p:cNvSpPr>
          <p:nvPr/>
        </p:nvSpPr>
        <p:spPr>
          <a:xfrm>
            <a:off x="82772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F114D6-9BBD-4971-9660-BCF16CE17731}"/>
              </a:ext>
            </a:extLst>
          </p:cNvPr>
          <p:cNvSpPr>
            <a:spLocks noGrp="1"/>
          </p:cNvSpPr>
          <p:nvPr/>
        </p:nvSpPr>
        <p:spPr>
          <a:xfrm>
            <a:off x="89058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C0252E-FE17-4332-8E8E-249A4F9FC15A}"/>
              </a:ext>
            </a:extLst>
          </p:cNvPr>
          <p:cNvSpPr>
            <a:spLocks noGrp="1"/>
          </p:cNvSpPr>
          <p:nvPr/>
        </p:nvSpPr>
        <p:spPr>
          <a:xfrm>
            <a:off x="89058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DEC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B03A1D-F485-4FFB-8271-D3133A57D333}"/>
              </a:ext>
            </a:extLst>
          </p:cNvPr>
          <p:cNvSpPr>
            <a:spLocks noGrp="1"/>
          </p:cNvSpPr>
          <p:nvPr/>
        </p:nvSpPr>
        <p:spPr>
          <a:xfrm>
            <a:off x="953452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3406CF-43F9-4BFA-BB14-F21DF6F4964D}"/>
              </a:ext>
            </a:extLst>
          </p:cNvPr>
          <p:cNvSpPr>
            <a:spLocks noGrp="1"/>
          </p:cNvSpPr>
          <p:nvPr/>
        </p:nvSpPr>
        <p:spPr>
          <a:xfrm>
            <a:off x="95345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422EB7-EE10-4A4B-A068-72884F9FDC4F}"/>
              </a:ext>
            </a:extLst>
          </p:cNvPr>
          <p:cNvSpPr>
            <a:spLocks noGrp="1"/>
          </p:cNvSpPr>
          <p:nvPr/>
        </p:nvSpPr>
        <p:spPr>
          <a:xfrm>
            <a:off x="10163175" y="1333500"/>
            <a:ext cx="552450" cy="266700"/>
          </a:xfrm>
          <a:prstGeom prst="rect">
            <a:avLst/>
          </a:prstGeom>
          <a:solidFill>
            <a:srgbClr val="F7F8F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67275E-A7A0-49A2-A2F8-53C4CEC341C8}"/>
              </a:ext>
            </a:extLst>
          </p:cNvPr>
          <p:cNvSpPr>
            <a:spLocks noGrp="1"/>
          </p:cNvSpPr>
          <p:nvPr/>
        </p:nvSpPr>
        <p:spPr>
          <a:xfrm>
            <a:off x="1016317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479487-B47D-41C4-9318-2A4C6DA0770A}"/>
              </a:ext>
            </a:extLst>
          </p:cNvPr>
          <p:cNvSpPr>
            <a:spLocks noGrp="1"/>
          </p:cNvSpPr>
          <p:nvPr/>
        </p:nvSpPr>
        <p:spPr>
          <a:xfrm>
            <a:off x="10791825" y="1333500"/>
            <a:ext cx="552450" cy="266700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D7458A-8453-4CFB-84B7-5C0E0FF415C2}"/>
              </a:ext>
            </a:extLst>
          </p:cNvPr>
          <p:cNvSpPr>
            <a:spLocks noGrp="1"/>
          </p:cNvSpPr>
          <p:nvPr/>
        </p:nvSpPr>
        <p:spPr>
          <a:xfrm>
            <a:off x="10791825" y="13525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308"/>
          </a:bodyPr>
          <a:lstStyle/>
          <a:p>
            <a:pPr algn="ctr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B9466B-45FF-47E9-899B-7DD1BDD6C78C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Charter + destination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9445B1-DC0C-4F79-8D12-3EB342C81565}"/>
              </a:ext>
            </a:extLst>
          </p:cNvPr>
          <p:cNvSpPr>
            <a:spLocks noGrp="1"/>
          </p:cNvSpPr>
          <p:nvPr/>
        </p:nvSpPr>
        <p:spPr>
          <a:xfrm>
            <a:off x="2619375" y="1857375"/>
            <a:ext cx="1181100" cy="3238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78D69-A01E-43D2-B2BA-C8C295DC1C9B}"/>
              </a:ext>
            </a:extLst>
          </p:cNvPr>
          <p:cNvSpPr>
            <a:spLocks noGrp="1"/>
          </p:cNvSpPr>
          <p:nvPr/>
        </p:nvSpPr>
        <p:spPr>
          <a:xfrm>
            <a:off x="400050" y="2438400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COVID assessment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F01502-16A2-4FD2-A739-5B2C7FCEB9B9}"/>
              </a:ext>
            </a:extLst>
          </p:cNvPr>
          <p:cNvSpPr>
            <a:spLocks noGrp="1"/>
          </p:cNvSpPr>
          <p:nvPr/>
        </p:nvSpPr>
        <p:spPr>
          <a:xfrm>
            <a:off x="3248025" y="2438400"/>
            <a:ext cx="1181100" cy="323850"/>
          </a:xfrm>
          <a:prstGeom prst="rect">
            <a:avLst/>
          </a:prstGeom>
          <a:solidFill>
            <a:srgbClr val="FFF0C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829AB2-F849-43B6-930D-6810381A4813}"/>
              </a:ext>
            </a:extLst>
          </p:cNvPr>
          <p:cNvSpPr>
            <a:spLocks noGrp="1"/>
          </p:cNvSpPr>
          <p:nvPr/>
        </p:nvSpPr>
        <p:spPr>
          <a:xfrm>
            <a:off x="400050" y="3019425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Sourcing + itinerary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61AF299-F46C-45C4-831B-4A0D63D7EC55}"/>
              </a:ext>
            </a:extLst>
          </p:cNvPr>
          <p:cNvSpPr>
            <a:spLocks noGrp="1"/>
          </p:cNvSpPr>
          <p:nvPr/>
        </p:nvSpPr>
        <p:spPr>
          <a:xfrm>
            <a:off x="4505325" y="3019425"/>
            <a:ext cx="2438400" cy="3238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5736F9-BB84-4A54-B15E-7766E955C6EC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+ finance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F24EEC2-250E-4D87-B2E4-1D9E50F9C13A}"/>
              </a:ext>
            </a:extLst>
          </p:cNvPr>
          <p:cNvSpPr>
            <a:spLocks noGrp="1"/>
          </p:cNvSpPr>
          <p:nvPr/>
        </p:nvSpPr>
        <p:spPr>
          <a:xfrm>
            <a:off x="6391275" y="3600450"/>
            <a:ext cx="2438400" cy="3238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7ADE5D-6E22-450F-B562-2A9A0EFDE56E}"/>
              </a:ext>
            </a:extLst>
          </p:cNvPr>
          <p:cNvSpPr>
            <a:spLocks noGrp="1"/>
          </p:cNvSpPr>
          <p:nvPr/>
        </p:nvSpPr>
        <p:spPr>
          <a:xfrm>
            <a:off x="400050" y="4181475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Rebaseline + risk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6D9E6F-44E6-48BB-9A1D-47310F6DACB4}"/>
              </a:ext>
            </a:extLst>
          </p:cNvPr>
          <p:cNvSpPr>
            <a:spLocks noGrp="1"/>
          </p:cNvSpPr>
          <p:nvPr/>
        </p:nvSpPr>
        <p:spPr>
          <a:xfrm>
            <a:off x="8277225" y="4181475"/>
            <a:ext cx="1809750" cy="3238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BC0BAA-8A13-4680-8B18-EDC831E35CA1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Traveler readiness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AFA46C3-8AB0-4839-96D2-38C28E5B124B}"/>
              </a:ext>
            </a:extLst>
          </p:cNvPr>
          <p:cNvSpPr>
            <a:spLocks noGrp="1"/>
          </p:cNvSpPr>
          <p:nvPr/>
        </p:nvSpPr>
        <p:spPr>
          <a:xfrm>
            <a:off x="9534525" y="4762500"/>
            <a:ext cx="1181100" cy="3238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9F9A7C-8573-48E8-BE72-76AF46F9D1DA}"/>
              </a:ext>
            </a:extLst>
          </p:cNvPr>
          <p:cNvSpPr>
            <a:spLocks noGrp="1"/>
          </p:cNvSpPr>
          <p:nvPr/>
        </p:nvSpPr>
        <p:spPr>
          <a:xfrm>
            <a:off x="400050" y="5343525"/>
            <a:ext cx="2047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Execute + close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A3768-FE5F-4BC7-8A9B-446D6EFD5879}"/>
              </a:ext>
            </a:extLst>
          </p:cNvPr>
          <p:cNvSpPr>
            <a:spLocks noGrp="1"/>
          </p:cNvSpPr>
          <p:nvPr/>
        </p:nvSpPr>
        <p:spPr>
          <a:xfrm>
            <a:off x="10791825" y="5343525"/>
            <a:ext cx="552450" cy="3238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A759C92-FA39-43E2-8D71-A4317B3C2DE3}"/>
              </a:ext>
            </a:extLst>
          </p:cNvPr>
          <p:cNvSpPr>
            <a:spLocks noGrp="1"/>
          </p:cNvSpPr>
          <p:nvPr/>
        </p:nvSpPr>
        <p:spPr>
          <a:xfrm>
            <a:off x="2619375" y="6076950"/>
            <a:ext cx="628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784"/>
          </a:bodyPr>
          <a:lstStyle/>
          <a:p>
            <a:pPr algn="ctr">
              <a:defRPr sz="12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C49A27-4AE3-4266-8A17-9F4488F39EE6}"/>
              </a:ext>
            </a:extLst>
          </p:cNvPr>
          <p:cNvSpPr>
            <a:spLocks noGrp="1"/>
          </p:cNvSpPr>
          <p:nvPr/>
        </p:nvSpPr>
        <p:spPr>
          <a:xfrm>
            <a:off x="8905875" y="607695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0784"/>
          </a:bodyPr>
          <a:lstStyle/>
          <a:p>
            <a:pPr algn="ctr">
              <a:defRPr sz="1275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2021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2F2B15E-A441-460A-9835-EE1B95858E1D}"/>
              </a:ext>
            </a:extLst>
          </p:cNvPr>
          <p:cNvSpPr>
            <a:spLocks noGrp="1"/>
          </p:cNvSpPr>
          <p:nvPr/>
        </p:nvSpPr>
        <p:spPr>
          <a:xfrm>
            <a:off x="8896350" y="1285875"/>
            <a:ext cx="19050" cy="4857750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7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-title">
            <a:extLst>
              <a:ext uri="{FF2B5EF4-FFF2-40B4-BE49-F238E27FC236}">
                <a16:creationId xmlns:a16="http://schemas.microsoft.com/office/drawing/2014/main" id="{887BB2A7-E3F9-41E4-B180-81AE2A70618F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389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Six integrated workstreams converted the itinerary into an executable program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B9B1BF-DA2F-44D3-BA4E-6C130D7438EF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54AA37-56BB-42C4-94B9-52EEA80809AD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922373-4CF0-4F02-8BF3-48A66382DF96}"/>
              </a:ext>
            </a:extLst>
          </p:cNvPr>
          <p:cNvSpPr>
            <a:spLocks noGrp="1"/>
          </p:cNvSpPr>
          <p:nvPr/>
        </p:nvSpPr>
        <p:spPr>
          <a:xfrm>
            <a:off x="400050" y="1571625"/>
            <a:ext cx="3429000" cy="17621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408D0B-A810-4C08-AACA-2758F5A83045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FLIGHTS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A49E4-E0F0-4331-B01E-2505D879518F}"/>
              </a:ext>
            </a:extLst>
          </p:cNvPr>
          <p:cNvSpPr>
            <a:spLocks noGrp="1"/>
          </p:cNvSpPr>
          <p:nvPr/>
        </p:nvSpPr>
        <p:spPr>
          <a:xfrm>
            <a:off x="638175" y="2162175"/>
            <a:ext cx="295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 seat blocks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Flexible fare rules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Manifest and ticket control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562756-3480-4347-8395-E1207F45597E}"/>
              </a:ext>
            </a:extLst>
          </p:cNvPr>
          <p:cNvSpPr>
            <a:spLocks noGrp="1"/>
          </p:cNvSpPr>
          <p:nvPr/>
        </p:nvSpPr>
        <p:spPr>
          <a:xfrm>
            <a:off x="4210050" y="1571625"/>
            <a:ext cx="3429000" cy="17621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E37C5F-6749-4637-95BD-3DCCEB622047}"/>
              </a:ext>
            </a:extLst>
          </p:cNvPr>
          <p:cNvSpPr>
            <a:spLocks noGrp="1"/>
          </p:cNvSpPr>
          <p:nvPr/>
        </p:nvSpPr>
        <p:spPr>
          <a:xfrm>
            <a:off x="4419600" y="17621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HOTEL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503953-2FBF-4896-9601-8C36AE24901C}"/>
              </a:ext>
            </a:extLst>
          </p:cNvPr>
          <p:cNvSpPr>
            <a:spLocks noGrp="1"/>
          </p:cNvSpPr>
          <p:nvPr/>
        </p:nvSpPr>
        <p:spPr>
          <a:xfrm>
            <a:off x="4448175" y="2162175"/>
            <a:ext cx="295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90 twin rooms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Rooming list governance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Overflow capacity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85B93E-925B-4936-BF5A-B43335FC0B03}"/>
              </a:ext>
            </a:extLst>
          </p:cNvPr>
          <p:cNvSpPr>
            <a:spLocks noGrp="1"/>
          </p:cNvSpPr>
          <p:nvPr/>
        </p:nvSpPr>
        <p:spPr>
          <a:xfrm>
            <a:off x="8020050" y="1571625"/>
            <a:ext cx="3429000" cy="17621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773AE1-B173-43B4-B3C3-0D6A3AAA5CA0}"/>
              </a:ext>
            </a:extLst>
          </p:cNvPr>
          <p:cNvSpPr>
            <a:spLocks noGrp="1"/>
          </p:cNvSpPr>
          <p:nvPr/>
        </p:nvSpPr>
        <p:spPr>
          <a:xfrm>
            <a:off x="8229600" y="17621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MOVEMENT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D0CB8D-83EE-406B-BA19-2EBD91DC7495}"/>
              </a:ext>
            </a:extLst>
          </p:cNvPr>
          <p:cNvSpPr>
            <a:spLocks noGrp="1"/>
          </p:cNvSpPr>
          <p:nvPr/>
        </p:nvSpPr>
        <p:spPr>
          <a:xfrm>
            <a:off x="8258175" y="2162175"/>
            <a:ext cx="295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Airport transfers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Daily buses and dispatch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Standby vehicle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EACCA-6BE5-4447-9400-D53639040A27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3429000" cy="17621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29A5B-4EE3-4EEF-9ACA-C6E79D9CF741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AGM + ACTIVITIES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C724F7-68C0-44A0-A871-C20771181AC0}"/>
              </a:ext>
            </a:extLst>
          </p:cNvPr>
          <p:cNvSpPr>
            <a:spLocks noGrp="1"/>
          </p:cNvSpPr>
          <p:nvPr/>
        </p:nvSpPr>
        <p:spPr>
          <a:xfrm>
            <a:off x="638175" y="4448175"/>
            <a:ext cx="295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Conference venue and AV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Timed group activities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Weather alternatives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59D1E1-0F84-48F9-AEB5-D78B5D0E1DEA}"/>
              </a:ext>
            </a:extLst>
          </p:cNvPr>
          <p:cNvSpPr>
            <a:spLocks noGrp="1"/>
          </p:cNvSpPr>
          <p:nvPr/>
        </p:nvSpPr>
        <p:spPr>
          <a:xfrm>
            <a:off x="4210050" y="3857625"/>
            <a:ext cx="3429000" cy="1762125"/>
          </a:xfrm>
          <a:prstGeom prst="rect">
            <a:avLst/>
          </a:prstGeom>
          <a:solidFill>
            <a:srgbClr val="E8F5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9B47A-104A-41D9-8A68-A6A42CD15614}"/>
              </a:ext>
            </a:extLst>
          </p:cNvPr>
          <p:cNvSpPr>
            <a:spLocks noGrp="1"/>
          </p:cNvSpPr>
          <p:nvPr/>
        </p:nvSpPr>
        <p:spPr>
          <a:xfrm>
            <a:off x="4419600" y="40481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HEALTH + SAFETY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A815CC-32E4-4888-A05C-6BDDD51D459B}"/>
              </a:ext>
            </a:extLst>
          </p:cNvPr>
          <p:cNvSpPr>
            <a:spLocks noGrp="1"/>
          </p:cNvSpPr>
          <p:nvPr/>
        </p:nvSpPr>
        <p:spPr>
          <a:xfrm>
            <a:off x="4448175" y="4448175"/>
            <a:ext cx="295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Entry/test documentation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Standby doctor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Referral and evacuation path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DB2AB9-3C63-40D1-8734-20E162BD3211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3429000" cy="176212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76E65C-B043-40CA-A0F7-BBD5B5DC5D07}"/>
              </a:ext>
            </a:extLst>
          </p:cNvPr>
          <p:cNvSpPr>
            <a:spLocks noGrp="1"/>
          </p:cNvSpPr>
          <p:nvPr/>
        </p:nvSpPr>
        <p:spPr>
          <a:xfrm>
            <a:off x="8229600" y="4048125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TRAVELER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3D862D-637F-4BB3-B6C5-6900A776AD22}"/>
              </a:ext>
            </a:extLst>
          </p:cNvPr>
          <p:cNvSpPr>
            <a:spLocks noGrp="1"/>
          </p:cNvSpPr>
          <p:nvPr/>
        </p:nvSpPr>
        <p:spPr>
          <a:xfrm>
            <a:off x="8258175" y="4448175"/>
            <a:ext cx="295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Briefings and packs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Help desk and coordinators</a:t>
            </a:r>
          </a:p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Exception tracking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FD5E0D-6111-4B80-BA8C-1AE470872F50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10906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437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Control mechanism: integrated master schedule • daily readiness dashboard • vendor tracker • RAID log • command-center escalation</a:t>
            </a:r>
          </a:p>
        </p:txBody>
      </p:sp>
    </p:spTree>
    <p:extLst>
      <p:ext uri="{BB962C8B-B14F-4D97-AF65-F5344CB8AC3E}">
        <p14:creationId xmlns:p14="http://schemas.microsoft.com/office/powerpoint/2010/main" val="110469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-title">
            <a:extLst>
              <a:ext uri="{FF2B5EF4-FFF2-40B4-BE49-F238E27FC236}">
                <a16:creationId xmlns:a16="http://schemas.microsoft.com/office/drawing/2014/main" id="{DDB54FC1-6B8C-4ADD-8579-6A5750192AA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281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budget was rebaselined by 25%—then closed below the new ceiling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8EBF6-9AAF-465B-8798-88E27CC86769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C7C5D-3321-4544-84B9-149CF797B0BD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C0A6E-5518-4414-AEE5-B29E0FB568C7}"/>
              </a:ext>
            </a:extLst>
          </p:cNvPr>
          <p:cNvSpPr>
            <a:spLocks noGrp="1"/>
          </p:cNvSpPr>
          <p:nvPr/>
        </p:nvSpPr>
        <p:spPr>
          <a:xfrm>
            <a:off x="400050" y="1190625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 ₦ MILLIONS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8F1BD-6B72-4CFF-A597-67D94E5E7D54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Original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101B37-023F-4421-BE5C-0B1EECAB02AE}"/>
              </a:ext>
            </a:extLst>
          </p:cNvPr>
          <p:cNvSpPr>
            <a:spLocks noGrp="1"/>
          </p:cNvSpPr>
          <p:nvPr/>
        </p:nvSpPr>
        <p:spPr>
          <a:xfrm>
            <a:off x="2619375" y="1809750"/>
            <a:ext cx="6191250" cy="438150"/>
          </a:xfrm>
          <a:prstGeom prst="rect">
            <a:avLst/>
          </a:prstGeom>
          <a:solidFill>
            <a:srgbClr val="5D667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03DAC-5F59-44B2-A670-325A06660AC8}"/>
              </a:ext>
            </a:extLst>
          </p:cNvPr>
          <p:cNvSpPr>
            <a:spLocks noGrp="1"/>
          </p:cNvSpPr>
          <p:nvPr/>
        </p:nvSpPr>
        <p:spPr>
          <a:xfrm>
            <a:off x="8905875" y="1809750"/>
            <a:ext cx="128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₦132m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C1B5EB-EA7D-4A70-B553-9DB97A3E9975}"/>
              </a:ext>
            </a:extLst>
          </p:cNvPr>
          <p:cNvSpPr>
            <a:spLocks noGrp="1"/>
          </p:cNvSpPr>
          <p:nvPr/>
        </p:nvSpPr>
        <p:spPr>
          <a:xfrm>
            <a:off x="400050" y="290512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Revised approval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DB29F-A5FF-4000-A616-7110BFD9BCA8}"/>
              </a:ext>
            </a:extLst>
          </p:cNvPr>
          <p:cNvSpPr>
            <a:spLocks noGrp="1"/>
          </p:cNvSpPr>
          <p:nvPr/>
        </p:nvSpPr>
        <p:spPr>
          <a:xfrm>
            <a:off x="2619375" y="2905125"/>
            <a:ext cx="7743825" cy="4381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5CA055-B76E-4049-8715-7382CFE15CF4}"/>
              </a:ext>
            </a:extLst>
          </p:cNvPr>
          <p:cNvSpPr>
            <a:spLocks noGrp="1"/>
          </p:cNvSpPr>
          <p:nvPr/>
        </p:nvSpPr>
        <p:spPr>
          <a:xfrm>
            <a:off x="10458450" y="2905125"/>
            <a:ext cx="128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₦165m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807354-98AD-4896-AB65-D99D463F1D34}"/>
              </a:ext>
            </a:extLst>
          </p:cNvPr>
          <p:cNvSpPr>
            <a:spLocks noGrp="1"/>
          </p:cNvSpPr>
          <p:nvPr/>
        </p:nvSpPr>
        <p:spPr>
          <a:xfrm>
            <a:off x="400050" y="40005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Modeled actual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F8E137-0F49-469B-8552-D08E8994D1FC}"/>
              </a:ext>
            </a:extLst>
          </p:cNvPr>
          <p:cNvSpPr>
            <a:spLocks noGrp="1"/>
          </p:cNvSpPr>
          <p:nvPr/>
        </p:nvSpPr>
        <p:spPr>
          <a:xfrm>
            <a:off x="2619375" y="4000500"/>
            <a:ext cx="7534275" cy="438150"/>
          </a:xfrm>
          <a:prstGeom prst="rect">
            <a:avLst/>
          </a:prstGeom>
          <a:solidFill>
            <a:srgbClr val="1F7A7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09F1E-B4D2-41E0-B63C-870376419272}"/>
              </a:ext>
            </a:extLst>
          </p:cNvPr>
          <p:cNvSpPr>
            <a:spLocks noGrp="1"/>
          </p:cNvSpPr>
          <p:nvPr/>
        </p:nvSpPr>
        <p:spPr>
          <a:xfrm>
            <a:off x="10248900" y="4000500"/>
            <a:ext cx="1285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F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78"/>
                </a:solidFill>
                <a:latin typeface="Arial"/>
                <a:ea typeface="Arial"/>
                <a:cs typeface="Arial"/>
              </a:rPr>
              <a:t>₦160.5m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7FD29D-B506-4BBB-92F6-0EEAE4C8015A}"/>
              </a:ext>
            </a:extLst>
          </p:cNvPr>
          <p:cNvSpPr>
            <a:spLocks noGrp="1"/>
          </p:cNvSpPr>
          <p:nvPr/>
        </p:nvSpPr>
        <p:spPr>
          <a:xfrm>
            <a:off x="400050" y="5334000"/>
            <a:ext cx="4953000" cy="809625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E5797D-80C4-4078-AF07-A2434749C5F8}"/>
              </a:ext>
            </a:extLst>
          </p:cNvPr>
          <p:cNvSpPr>
            <a:spLocks noGrp="1"/>
          </p:cNvSpPr>
          <p:nvPr/>
        </p:nvSpPr>
        <p:spPr>
          <a:xfrm>
            <a:off x="619125" y="54578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833"/>
          </a:bodyPr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₦33.0m rebaseline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83560A-85B3-4D11-8D0D-BE01F811F1C3}"/>
              </a:ext>
            </a:extLst>
          </p:cNvPr>
          <p:cNvSpPr>
            <a:spLocks noGrp="1"/>
          </p:cNvSpPr>
          <p:nvPr/>
        </p:nvSpPr>
        <p:spPr>
          <a:xfrm>
            <a:off x="619125" y="5772150"/>
            <a:ext cx="438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Flights, capacity, medical support, flexible terms and contingency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293EF-A50E-4275-ACEA-93684C8DFB18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5619750" cy="809625"/>
          </a:xfrm>
          <a:prstGeom prst="rect">
            <a:avLst/>
          </a:prstGeom>
          <a:solidFill>
            <a:srgbClr val="DDF3E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E48D08-CFF2-45F0-804D-DF9F9492A1BF}"/>
              </a:ext>
            </a:extLst>
          </p:cNvPr>
          <p:cNvSpPr>
            <a:spLocks noGrp="1"/>
          </p:cNvSpPr>
          <p:nvPr/>
        </p:nvSpPr>
        <p:spPr>
          <a:xfrm>
            <a:off x="6143625" y="545782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833"/>
          </a:bodyPr>
          <a:lstStyle/>
          <a:p>
            <a:pPr algn="l">
              <a:defRPr sz="1800" b="1">
                <a:solidFill>
                  <a:srgbClr val="1F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7A78"/>
                </a:solidFill>
                <a:latin typeface="Arial"/>
                <a:ea typeface="Arial"/>
                <a:cs typeface="Arial"/>
              </a:rPr>
              <a:t>₦4.5m below revised budget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419385-EE62-4EC8-BC09-09A10820F0CF}"/>
              </a:ext>
            </a:extLst>
          </p:cNvPr>
          <p:cNvSpPr>
            <a:spLocks noGrp="1"/>
          </p:cNvSpPr>
          <p:nvPr/>
        </p:nvSpPr>
        <p:spPr>
          <a:xfrm>
            <a:off x="6143625" y="5772150"/>
            <a:ext cx="466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l">
              <a:defRPr sz="1275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2.7% saving at modeled closeout</a:t>
            </a:r>
          </a:p>
        </p:txBody>
      </p:sp>
    </p:spTree>
    <p:extLst>
      <p:ext uri="{BB962C8B-B14F-4D97-AF65-F5344CB8AC3E}">
        <p14:creationId xmlns:p14="http://schemas.microsoft.com/office/powerpoint/2010/main" val="74320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title">
            <a:extLst>
              <a:ext uri="{FF2B5EF4-FFF2-40B4-BE49-F238E27FC236}">
                <a16:creationId xmlns:a16="http://schemas.microsoft.com/office/drawing/2014/main" id="{1A5D6CCB-7C0B-4F5F-BF51-4B37E767A4C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6639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Credit exposure was controlled through staged commitments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0B45E2-DBAF-4C41-B575-F257A7A35483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1FB5AA-06D9-48D7-9528-173886AF2436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26EFF1-16C5-4FA2-8EBB-331EC777BB55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2476500" cy="2476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FE7DE-90F8-46FA-8779-A03EAE55CC63}"/>
              </a:ext>
            </a:extLst>
          </p:cNvPr>
          <p:cNvSpPr>
            <a:spLocks noGrp="1"/>
          </p:cNvSpPr>
          <p:nvPr/>
        </p:nvSpPr>
        <p:spPr>
          <a:xfrm>
            <a:off x="733425" y="2047875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 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0AE6EE-8DFE-4952-A2F3-75B58B72F074}"/>
              </a:ext>
            </a:extLst>
          </p:cNvPr>
          <p:cNvSpPr>
            <a:spLocks noGrp="1"/>
          </p:cNvSpPr>
          <p:nvPr/>
        </p:nvSpPr>
        <p:spPr>
          <a:xfrm>
            <a:off x="752475" y="2571750"/>
            <a:ext cx="20193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Consolidate flights, rooms, venue, movements, activities and assurance costs.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5ED25-00A1-4221-B6A6-B8BEDC866E27}"/>
              </a:ext>
            </a:extLst>
          </p:cNvPr>
          <p:cNvSpPr>
            <a:spLocks noGrp="1"/>
          </p:cNvSpPr>
          <p:nvPr/>
        </p:nvSpPr>
        <p:spPr>
          <a:xfrm>
            <a:off x="3333750" y="1809750"/>
            <a:ext cx="2476500" cy="2476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1A121-D035-434F-827F-E3EB4DC3FFE2}"/>
              </a:ext>
            </a:extLst>
          </p:cNvPr>
          <p:cNvSpPr>
            <a:spLocks noGrp="1"/>
          </p:cNvSpPr>
          <p:nvPr/>
        </p:nvSpPr>
        <p:spPr>
          <a:xfrm>
            <a:off x="3543300" y="2047875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2  NEGOTIATE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AC23C-F519-49F2-9CA0-D94CFA27F625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20193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flexible terms, attrition clauses, cancellation windows and backup capacity.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850C57-E727-4D93-A413-45B1F5916890}"/>
              </a:ext>
            </a:extLst>
          </p:cNvPr>
          <p:cNvSpPr>
            <a:spLocks noGrp="1"/>
          </p:cNvSpPr>
          <p:nvPr/>
        </p:nvSpPr>
        <p:spPr>
          <a:xfrm>
            <a:off x="6143625" y="1809750"/>
            <a:ext cx="2476500" cy="2476500"/>
          </a:xfrm>
          <a:prstGeom prst="rect">
            <a:avLst/>
          </a:prstGeom>
          <a:solidFill>
            <a:srgbClr val="E8F5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570BBD-81F8-485F-A431-2F89E6599122}"/>
              </a:ext>
            </a:extLst>
          </p:cNvPr>
          <p:cNvSpPr>
            <a:spLocks noGrp="1"/>
          </p:cNvSpPr>
          <p:nvPr/>
        </p:nvSpPr>
        <p:spPr>
          <a:xfrm>
            <a:off x="6353175" y="2047875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  STRUCTURE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97CE13-7A33-4D91-8365-500A5DEC2964}"/>
              </a:ext>
            </a:extLst>
          </p:cNvPr>
          <p:cNvSpPr>
            <a:spLocks noGrp="1"/>
          </p:cNvSpPr>
          <p:nvPr/>
        </p:nvSpPr>
        <p:spPr>
          <a:xfrm>
            <a:off x="6372225" y="2571750"/>
            <a:ext cx="20193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Align client payments, vendor deposits and Finchglow credit approvals by milestone.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A8F9A5-4A6D-4858-9001-C4F9906F52A6}"/>
              </a:ext>
            </a:extLst>
          </p:cNvPr>
          <p:cNvSpPr>
            <a:spLocks noGrp="1"/>
          </p:cNvSpPr>
          <p:nvPr/>
        </p:nvSpPr>
        <p:spPr>
          <a:xfrm>
            <a:off x="8953500" y="1809750"/>
            <a:ext cx="2476500" cy="2476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17D959-3BA5-4004-85BF-BB6C11B773E7}"/>
              </a:ext>
            </a:extLst>
          </p:cNvPr>
          <p:cNvSpPr>
            <a:spLocks noGrp="1"/>
          </p:cNvSpPr>
          <p:nvPr/>
        </p:nvSpPr>
        <p:spPr>
          <a:xfrm>
            <a:off x="9163050" y="2047875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4 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8051A-37DF-4F36-9B68-174152558330}"/>
              </a:ext>
            </a:extLst>
          </p:cNvPr>
          <p:cNvSpPr>
            <a:spLocks noGrp="1"/>
          </p:cNvSpPr>
          <p:nvPr/>
        </p:nvSpPr>
        <p:spPr>
          <a:xfrm>
            <a:off x="9182100" y="2571750"/>
            <a:ext cx="20193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weekly exposure, deposit, variance and exception reviews until closeout.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888E5C-DB7A-4D09-B8E0-0498E632D07F}"/>
              </a:ext>
            </a:extLst>
          </p:cNvPr>
          <p:cNvSpPr>
            <a:spLocks noGrp="1"/>
          </p:cNvSpPr>
          <p:nvPr/>
        </p:nvSpPr>
        <p:spPr>
          <a:xfrm>
            <a:off x="3000375" y="3019425"/>
            <a:ext cx="333375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C57970-5A08-439C-98F8-779A73225B40}"/>
              </a:ext>
            </a:extLst>
          </p:cNvPr>
          <p:cNvSpPr>
            <a:spLocks noGrp="1"/>
          </p:cNvSpPr>
          <p:nvPr/>
        </p:nvSpPr>
        <p:spPr>
          <a:xfrm>
            <a:off x="5810250" y="3019425"/>
            <a:ext cx="333375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511AD2-B9C4-463A-BC14-E2977D6267C7}"/>
              </a:ext>
            </a:extLst>
          </p:cNvPr>
          <p:cNvSpPr>
            <a:spLocks noGrp="1"/>
          </p:cNvSpPr>
          <p:nvPr/>
        </p:nvSpPr>
        <p:spPr>
          <a:xfrm>
            <a:off x="8620125" y="3019425"/>
            <a:ext cx="333375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542966-C9F6-4C2E-A90B-A9D4A5C265C4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833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controls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2F398A-509A-4231-B41A-8622F2DAD33F}"/>
              </a:ext>
            </a:extLst>
          </p:cNvPr>
          <p:cNvSpPr>
            <a:spLocks noGrp="1"/>
          </p:cNvSpPr>
          <p:nvPr/>
        </p:nvSpPr>
        <p:spPr>
          <a:xfrm>
            <a:off x="523875" y="5257800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394C8A-64EA-45E4-8C95-4F69974FCB24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Named owner and service-level commitment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D2E2B6-D91D-4E08-95A2-6D8E5FAA51F7}"/>
              </a:ext>
            </a:extLst>
          </p:cNvPr>
          <p:cNvSpPr>
            <a:spLocks noGrp="1"/>
          </p:cNvSpPr>
          <p:nvPr/>
        </p:nvSpPr>
        <p:spPr>
          <a:xfrm>
            <a:off x="6143625" y="5257800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1E7F9E-C2F9-4AD8-9070-A566DA2642E1}"/>
              </a:ext>
            </a:extLst>
          </p:cNvPr>
          <p:cNvSpPr>
            <a:spLocks noGrp="1"/>
          </p:cNvSpPr>
          <p:nvPr/>
        </p:nvSpPr>
        <p:spPr>
          <a:xfrm>
            <a:off x="6400800" y="5095875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Deposit due date and approval gate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9446ED-43CE-40C6-A12B-8E33B19E8261}"/>
              </a:ext>
            </a:extLst>
          </p:cNvPr>
          <p:cNvSpPr>
            <a:spLocks noGrp="1"/>
          </p:cNvSpPr>
          <p:nvPr/>
        </p:nvSpPr>
        <p:spPr>
          <a:xfrm>
            <a:off x="523875" y="5781675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4D9153-733B-4E69-A678-5DEFB5E34081}"/>
              </a:ext>
            </a:extLst>
          </p:cNvPr>
          <p:cNvSpPr>
            <a:spLocks noGrp="1"/>
          </p:cNvSpPr>
          <p:nvPr/>
        </p:nvSpPr>
        <p:spPr>
          <a:xfrm>
            <a:off x="781050" y="5619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Backup supplier or alternative itinerary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401FA4-408E-411D-807A-FB6FD019C9A0}"/>
              </a:ext>
            </a:extLst>
          </p:cNvPr>
          <p:cNvSpPr>
            <a:spLocks noGrp="1"/>
          </p:cNvSpPr>
          <p:nvPr/>
        </p:nvSpPr>
        <p:spPr>
          <a:xfrm>
            <a:off x="6143625" y="5781675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D52DD3-4A5F-470F-AA1F-756D573F78BE}"/>
              </a:ext>
            </a:extLst>
          </p:cNvPr>
          <p:cNvSpPr>
            <a:spLocks noGrp="1"/>
          </p:cNvSpPr>
          <p:nvPr/>
        </p:nvSpPr>
        <p:spPr>
          <a:xfrm>
            <a:off x="6400800" y="5619750"/>
            <a:ext cx="476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Invoice validation before final settlement</a:t>
            </a:r>
          </a:p>
        </p:txBody>
      </p:sp>
    </p:spTree>
    <p:extLst>
      <p:ext uri="{BB962C8B-B14F-4D97-AF65-F5344CB8AC3E}">
        <p14:creationId xmlns:p14="http://schemas.microsoft.com/office/powerpoint/2010/main" val="137531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52C54C1-3D05-4C11-9572-91BE703D090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006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High-impact risks had named controls, triggers and backups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E243AF-FA46-46B8-A2FB-C502BC3114EE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31D4C-B2FE-445C-A521-949317FD255A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Table 16"/>
          <p:cNvGraphicFramePr/>
          <p:nvPr/>
        </p:nvGraphicFramePr>
        <p:xfrm>
          <a:off x="400050" y="1571625"/>
          <a:ext cx="7429500" cy="4095749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response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Entry or testing rule change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Monitor rules; traveler checklist; decision gate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Flight cancellation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Flexible fares; alternative routing; escalation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Traveler illness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Standby doctor; referral hospital; insurance and evacuation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Credit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Staged payments; weekly exposure review; approval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Transport supplier failure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Backup fleet; dispatch channel; standby vehicle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10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Hotel / venue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Medium</a:t>
                      </a:r>
                    </a:p>
                  </a:txBody>
                  <a:tcPr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Overflow rooms; alternate ballroom; flexible clauses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0546183-31ED-4D24-9E31-8F2C84CE34AD}"/>
              </a:ext>
            </a:extLst>
          </p:cNvPr>
          <p:cNvSpPr>
            <a:spLocks noGrp="1"/>
          </p:cNvSpPr>
          <p:nvPr/>
        </p:nvSpPr>
        <p:spPr>
          <a:xfrm>
            <a:off x="8334375" y="16192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722"/>
          </a:bodyPr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Risk-review questions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4EA48A-19DE-404C-A5F0-89EE8AF0304A}"/>
              </a:ext>
            </a:extLst>
          </p:cNvPr>
          <p:cNvSpPr>
            <a:spLocks noGrp="1"/>
          </p:cNvSpPr>
          <p:nvPr/>
        </p:nvSpPr>
        <p:spPr>
          <a:xfrm>
            <a:off x="8334375" y="2238375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CA187-F8E2-470F-82B9-EAD01AC7B2A2}"/>
              </a:ext>
            </a:extLst>
          </p:cNvPr>
          <p:cNvSpPr>
            <a:spLocks noGrp="1"/>
          </p:cNvSpPr>
          <p:nvPr/>
        </p:nvSpPr>
        <p:spPr>
          <a:xfrm>
            <a:off x="8620125" y="20764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changed?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2CAA5-21FE-4191-871E-C6795D14BB15}"/>
              </a:ext>
            </a:extLst>
          </p:cNvPr>
          <p:cNvSpPr>
            <a:spLocks noGrp="1"/>
          </p:cNvSpPr>
          <p:nvPr/>
        </p:nvSpPr>
        <p:spPr>
          <a:xfrm>
            <a:off x="8334375" y="2981325"/>
            <a:ext cx="133350" cy="13335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04737-9CFC-4DBD-9702-77D5C4505080}"/>
              </a:ext>
            </a:extLst>
          </p:cNvPr>
          <p:cNvSpPr>
            <a:spLocks noGrp="1"/>
          </p:cNvSpPr>
          <p:nvPr/>
        </p:nvSpPr>
        <p:spPr>
          <a:xfrm>
            <a:off x="8620125" y="28194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Which travelers or suppliers are affected?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944C17-5B8B-444D-9DB5-6055B84EAA36}"/>
              </a:ext>
            </a:extLst>
          </p:cNvPr>
          <p:cNvSpPr>
            <a:spLocks noGrp="1"/>
          </p:cNvSpPr>
          <p:nvPr/>
        </p:nvSpPr>
        <p:spPr>
          <a:xfrm>
            <a:off x="8334375" y="3724275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4FD5DC-4358-44F6-8AFD-262F046A751D}"/>
              </a:ext>
            </a:extLst>
          </p:cNvPr>
          <p:cNvSpPr>
            <a:spLocks noGrp="1"/>
          </p:cNvSpPr>
          <p:nvPr/>
        </p:nvSpPr>
        <p:spPr>
          <a:xfrm>
            <a:off x="8620125" y="356235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decision is due—and by when?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ECF156-BCD6-4EB9-978F-F2B3A984DAFD}"/>
              </a:ext>
            </a:extLst>
          </p:cNvPr>
          <p:cNvSpPr>
            <a:spLocks noGrp="1"/>
          </p:cNvSpPr>
          <p:nvPr/>
        </p:nvSpPr>
        <p:spPr>
          <a:xfrm>
            <a:off x="8334375" y="4467225"/>
            <a:ext cx="133350" cy="13335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FF5BF-B2E9-494C-8D67-588BAA0B6B4A}"/>
              </a:ext>
            </a:extLst>
          </p:cNvPr>
          <p:cNvSpPr>
            <a:spLocks noGrp="1"/>
          </p:cNvSpPr>
          <p:nvPr/>
        </p:nvSpPr>
        <p:spPr>
          <a:xfrm>
            <a:off x="8620125" y="43053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167"/>
          </a:bodyPr>
          <a:lstStyle/>
          <a:p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Which contingency is ready to activate?</a:t>
            </a:r>
          </a:p>
        </p:txBody>
      </p:sp>
    </p:spTree>
    <p:extLst>
      <p:ext uri="{BB962C8B-B14F-4D97-AF65-F5344CB8AC3E}">
        <p14:creationId xmlns:p14="http://schemas.microsoft.com/office/powerpoint/2010/main" val="922177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-title">
            <a:extLst>
              <a:ext uri="{FF2B5EF4-FFF2-40B4-BE49-F238E27FC236}">
                <a16:creationId xmlns:a16="http://schemas.microsoft.com/office/drawing/2014/main" id="{5B84AF08-1F3F-45EE-B406-7F35EB45C99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359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command-center model shortened the path from incident to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ABF396-3038-4DB7-8545-7501E65A385B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2420E-4C86-4CE4-A33A-60AF1B6F73A5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F0FA7-8A78-4A29-A8AB-119CA1F899D3}"/>
              </a:ext>
            </a:extLst>
          </p:cNvPr>
          <p:cNvSpPr>
            <a:spLocks noGrp="1"/>
          </p:cNvSpPr>
          <p:nvPr/>
        </p:nvSpPr>
        <p:spPr>
          <a:xfrm>
            <a:off x="2667000" y="3000375"/>
            <a:ext cx="666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E9A78-B8EE-4FDE-9CCD-391DAA753B57}"/>
              </a:ext>
            </a:extLst>
          </p:cNvPr>
          <p:cNvSpPr>
            <a:spLocks noGrp="1"/>
          </p:cNvSpPr>
          <p:nvPr/>
        </p:nvSpPr>
        <p:spPr>
          <a:xfrm>
            <a:off x="5476875" y="3000375"/>
            <a:ext cx="666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1051EC-11DF-4CF0-8EF4-C7C5C240D19E}"/>
              </a:ext>
            </a:extLst>
          </p:cNvPr>
          <p:cNvSpPr>
            <a:spLocks noGrp="1"/>
          </p:cNvSpPr>
          <p:nvPr/>
        </p:nvSpPr>
        <p:spPr>
          <a:xfrm>
            <a:off x="8286750" y="3000375"/>
            <a:ext cx="666750" cy="28575"/>
          </a:xfrm>
          <a:prstGeom prst="rect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0D1AC-E0C8-4C2E-A0C7-D4A154EBB5DA}"/>
              </a:ext>
            </a:extLst>
          </p:cNvPr>
          <p:cNvSpPr>
            <a:spLocks noGrp="1"/>
          </p:cNvSpPr>
          <p:nvPr/>
        </p:nvSpPr>
        <p:spPr>
          <a:xfrm>
            <a:off x="523875" y="1905000"/>
            <a:ext cx="2286000" cy="26193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F28B5-FC39-4997-87B9-FFEDD78CF7DB}"/>
              </a:ext>
            </a:extLst>
          </p:cNvPr>
          <p:cNvSpPr>
            <a:spLocks noGrp="1"/>
          </p:cNvSpPr>
          <p:nvPr/>
        </p:nvSpPr>
        <p:spPr>
          <a:xfrm>
            <a:off x="733425" y="2143125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1  DETECT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77D7E-E830-481C-8EF1-D863D8C53404}"/>
              </a:ext>
            </a:extLst>
          </p:cNvPr>
          <p:cNvSpPr>
            <a:spLocks noGrp="1"/>
          </p:cNvSpPr>
          <p:nvPr/>
        </p:nvSpPr>
        <p:spPr>
          <a:xfrm>
            <a:off x="733425" y="2667000"/>
            <a:ext cx="18669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Traveler coordinator or vendor raises an alert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 and location logged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F2C8AA-27B2-4E71-AB60-59E0D9A84F76}"/>
              </a:ext>
            </a:extLst>
          </p:cNvPr>
          <p:cNvSpPr>
            <a:spLocks noGrp="1"/>
          </p:cNvSpPr>
          <p:nvPr/>
        </p:nvSpPr>
        <p:spPr>
          <a:xfrm>
            <a:off x="3333750" y="1905000"/>
            <a:ext cx="2286000" cy="2619375"/>
          </a:xfrm>
          <a:prstGeom prst="rect">
            <a:avLst/>
          </a:prstGeom>
          <a:solidFill>
            <a:srgbClr val="E8F5FC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F06BD-ECFA-4A89-95A8-72AA6C5A63EE}"/>
              </a:ext>
            </a:extLst>
          </p:cNvPr>
          <p:cNvSpPr>
            <a:spLocks noGrp="1"/>
          </p:cNvSpPr>
          <p:nvPr/>
        </p:nvSpPr>
        <p:spPr>
          <a:xfrm>
            <a:off x="3543300" y="2143125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 TRIAGE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FF4FD4-EBA7-4F62-A285-60F2ED0890F6}"/>
              </a:ext>
            </a:extLst>
          </p:cNvPr>
          <p:cNvSpPr>
            <a:spLocks noGrp="1"/>
          </p:cNvSpPr>
          <p:nvPr/>
        </p:nvSpPr>
        <p:spPr>
          <a:xfrm>
            <a:off x="3543300" y="2667000"/>
            <a:ext cx="18669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lead validates impact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Medical/logistics lead engaged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C3E87C-4E9F-4926-83A0-5022B2D0D0A8}"/>
              </a:ext>
            </a:extLst>
          </p:cNvPr>
          <p:cNvSpPr>
            <a:spLocks noGrp="1"/>
          </p:cNvSpPr>
          <p:nvPr/>
        </p:nvSpPr>
        <p:spPr>
          <a:xfrm>
            <a:off x="6143625" y="1905000"/>
            <a:ext cx="2286000" cy="26193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0B8A09-1C3C-43AD-85E5-05FF1AF1CD5F}"/>
              </a:ext>
            </a:extLst>
          </p:cNvPr>
          <p:cNvSpPr>
            <a:spLocks noGrp="1"/>
          </p:cNvSpPr>
          <p:nvPr/>
        </p:nvSpPr>
        <p:spPr>
          <a:xfrm>
            <a:off x="6353175" y="2143125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3  DECIDE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E7AEA7-D9D3-4222-989A-2C369DCABED3}"/>
              </a:ext>
            </a:extLst>
          </p:cNvPr>
          <p:cNvSpPr>
            <a:spLocks noGrp="1"/>
          </p:cNvSpPr>
          <p:nvPr/>
        </p:nvSpPr>
        <p:spPr>
          <a:xfrm>
            <a:off x="6353175" y="2667000"/>
            <a:ext cx="18669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Escalate to client sponsor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 approved contingency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46228E-B2C4-4CB4-BDF2-A7D34B505D4E}"/>
              </a:ext>
            </a:extLst>
          </p:cNvPr>
          <p:cNvSpPr>
            <a:spLocks noGrp="1"/>
          </p:cNvSpPr>
          <p:nvPr/>
        </p:nvSpPr>
        <p:spPr>
          <a:xfrm>
            <a:off x="8953500" y="1905000"/>
            <a:ext cx="2286000" cy="2619375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64A47F-B430-47D0-8126-76ECC8EC89F9}"/>
              </a:ext>
            </a:extLst>
          </p:cNvPr>
          <p:cNvSpPr>
            <a:spLocks noGrp="1"/>
          </p:cNvSpPr>
          <p:nvPr/>
        </p:nvSpPr>
        <p:spPr>
          <a:xfrm>
            <a:off x="9163050" y="2143125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333"/>
          </a:bodyPr>
          <a:lstStyle/>
          <a:p>
            <a:pPr algn="ctr">
              <a:defRPr sz="1500" b="1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673"/>
                </a:solidFill>
                <a:latin typeface="Arial"/>
                <a:ea typeface="Arial"/>
                <a:cs typeface="Arial"/>
              </a:rPr>
              <a:t>4  RECOVER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3D91D1-736E-4A93-AC9A-F7DDC5FAE9A1}"/>
              </a:ext>
            </a:extLst>
          </p:cNvPr>
          <p:cNvSpPr>
            <a:spLocks noGrp="1"/>
          </p:cNvSpPr>
          <p:nvPr/>
        </p:nvSpPr>
        <p:spPr>
          <a:xfrm>
            <a:off x="9163050" y="2667000"/>
            <a:ext cx="18669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Rebook, reroute or treat</a:t>
            </a:r>
          </a:p>
          <a:p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Reconcile traveler and document closure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BCFEE7-A95E-4757-A963-0BBEC448F01E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10858500" cy="857250"/>
          </a:xfrm>
          <a:prstGeom prst="rect">
            <a:avLst/>
          </a:prstGeom>
          <a:solidFill>
            <a:srgbClr val="17324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25898D-56E8-4858-96FD-8E0A0F359E6B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l">
              <a:defRPr sz="15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Prepared capabilities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9E0E92-7367-4388-8110-243D74D23585}"/>
              </a:ext>
            </a:extLst>
          </p:cNvPr>
          <p:cNvSpPr>
            <a:spLocks noGrp="1"/>
          </p:cNvSpPr>
          <p:nvPr/>
        </p:nvSpPr>
        <p:spPr>
          <a:xfrm>
            <a:off x="742950" y="552450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8645"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Standby doctor • referral hospital • insurance escalation • backup fleet • alternate routing • emergency contacts • traveler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1248372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title">
            <a:extLst>
              <a:ext uri="{FF2B5EF4-FFF2-40B4-BE49-F238E27FC236}">
                <a16:creationId xmlns:a16="http://schemas.microsoft.com/office/drawing/2014/main" id="{B1007F87-E7FD-4E60-AC99-33506A5F6AE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064"/>
          </a:bodyPr>
          <a:lstStyle/>
          <a:p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March 2021 program closed with full traveler reconciliation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38A935-8B1A-42B5-B538-917A7DCA00E9}"/>
              </a:ext>
            </a:extLst>
          </p:cNvPr>
          <p:cNvSpPr>
            <a:spLocks noGrp="1"/>
          </p:cNvSpPr>
          <p:nvPr/>
        </p:nvSpPr>
        <p:spPr>
          <a:xfrm>
            <a:off x="1133475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8B116B-488C-412B-A45A-9197BE2CB286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A1A49-433E-490F-BE86-44ACD02D0360}"/>
              </a:ext>
            </a:extLst>
          </p:cNvPr>
          <p:cNvSpPr>
            <a:spLocks noGrp="1"/>
          </p:cNvSpPr>
          <p:nvPr/>
        </p:nvSpPr>
        <p:spPr>
          <a:xfrm>
            <a:off x="400050" y="11430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917" lnSpcReduction="10000"/>
          </a:bodyPr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endParaRPr sz="1200" b="1" dirty="0">
              <a:solidFill>
                <a:srgbClr val="3D8D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681013-EC9B-4390-B70F-B819BC31BB84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2476500" cy="1666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3C9C3-8FDB-4515-A50C-26451258565B}"/>
              </a:ext>
            </a:extLst>
          </p:cNvPr>
          <p:cNvSpPr>
            <a:spLocks noGrp="1"/>
          </p:cNvSpPr>
          <p:nvPr/>
        </p:nvSpPr>
        <p:spPr>
          <a:xfrm>
            <a:off x="5905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180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9FA928-8C11-4DB6-9AFA-4A6757BDE51B}"/>
              </a:ext>
            </a:extLst>
          </p:cNvPr>
          <p:cNvSpPr>
            <a:spLocks noGrp="1"/>
          </p:cNvSpPr>
          <p:nvPr/>
        </p:nvSpPr>
        <p:spPr>
          <a:xfrm>
            <a:off x="5905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travelers supported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35DEB-3B7C-4F10-B9AA-93A20A698999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476500" cy="1666875"/>
          </a:xfrm>
          <a:prstGeom prst="rect">
            <a:avLst/>
          </a:prstGeom>
          <a:solidFill>
            <a:srgbClr val="E8F5F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DCD79C-3E85-46FC-AF9A-1A421DAA8ABC}"/>
              </a:ext>
            </a:extLst>
          </p:cNvPr>
          <p:cNvSpPr>
            <a:spLocks noGrp="1"/>
          </p:cNvSpPr>
          <p:nvPr/>
        </p:nvSpPr>
        <p:spPr>
          <a:xfrm>
            <a:off x="34480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42D78F-CA16-4742-BA9A-520D041E13FA}"/>
              </a:ext>
            </a:extLst>
          </p:cNvPr>
          <p:cNvSpPr>
            <a:spLocks noGrp="1"/>
          </p:cNvSpPr>
          <p:nvPr/>
        </p:nvSpPr>
        <p:spPr>
          <a:xfrm>
            <a:off x="34480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manifest reconciliation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BCE293-F99E-4B4B-997D-47976EB666E2}"/>
              </a:ext>
            </a:extLst>
          </p:cNvPr>
          <p:cNvSpPr>
            <a:spLocks noGrp="1"/>
          </p:cNvSpPr>
          <p:nvPr/>
        </p:nvSpPr>
        <p:spPr>
          <a:xfrm>
            <a:off x="6115050" y="1666875"/>
            <a:ext cx="2476500" cy="1666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DC8A66-BC6A-452E-85B6-43C93D7C8923}"/>
              </a:ext>
            </a:extLst>
          </p:cNvPr>
          <p:cNvSpPr>
            <a:spLocks noGrp="1"/>
          </p:cNvSpPr>
          <p:nvPr/>
        </p:nvSpPr>
        <p:spPr>
          <a:xfrm>
            <a:off x="63055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96%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3F0C01-32BA-43D8-BC63-50C88038F723}"/>
              </a:ext>
            </a:extLst>
          </p:cNvPr>
          <p:cNvSpPr>
            <a:spLocks noGrp="1"/>
          </p:cNvSpPr>
          <p:nvPr/>
        </p:nvSpPr>
        <p:spPr>
          <a:xfrm>
            <a:off x="63055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on-time movements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8BCEA9-6863-445B-A9F1-70E366989E93}"/>
              </a:ext>
            </a:extLst>
          </p:cNvPr>
          <p:cNvSpPr>
            <a:spLocks noGrp="1"/>
          </p:cNvSpPr>
          <p:nvPr/>
        </p:nvSpPr>
        <p:spPr>
          <a:xfrm>
            <a:off x="8972550" y="1666875"/>
            <a:ext cx="2476500" cy="16668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E4F965-5C17-409E-B0A5-69A874030C32}"/>
              </a:ext>
            </a:extLst>
          </p:cNvPr>
          <p:cNvSpPr>
            <a:spLocks noGrp="1"/>
          </p:cNvSpPr>
          <p:nvPr/>
        </p:nvSpPr>
        <p:spPr>
          <a:xfrm>
            <a:off x="9163050" y="1952625"/>
            <a:ext cx="2095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92%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9BAA35-BAD9-4D95-8D38-6F462766D5B9}"/>
              </a:ext>
            </a:extLst>
          </p:cNvPr>
          <p:cNvSpPr>
            <a:spLocks noGrp="1"/>
          </p:cNvSpPr>
          <p:nvPr/>
        </p:nvSpPr>
        <p:spPr>
          <a:xfrm>
            <a:off x="9163050" y="2714625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5D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673"/>
                </a:solidFill>
                <a:latin typeface="Arial"/>
                <a:ea typeface="Arial"/>
                <a:cs typeface="Arial"/>
              </a:rPr>
              <a:t>traveler satisfaction</a:t>
            </a:r>
          </a:p>
        </p:txBody>
      </p:sp>
      <p:graphicFrame>
        <p:nvGraphicFramePr>
          <p:cNvPr id="34" name="Table 33"/>
          <p:cNvGraphicFramePr/>
          <p:nvPr/>
        </p:nvGraphicFramePr>
        <p:xfrm>
          <a:off x="400050" y="3857625"/>
          <a:ext cx="11391900" cy="20002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 area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closeout evidence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Safety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 major safety incidents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Financial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₦160.5m actual vs ₦165.0m revised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₦4.5m below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Readiness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All 180 travelers cleared by departure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Vendor, risk and closeout records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Closed</a:t>
                      </a:r>
                    </a:p>
                  </a:txBody>
                  <a:tcPr>
                    <a:solidFill>
                      <a:srgbClr val="DDF3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0987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Microsoft Macintosh PowerPoint</Application>
  <DocSecurity>0</DocSecurity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Agnes Abiodun Iwaye</cp:lastModifiedBy>
  <cp:revision>1</cp:revision>
  <dcterms:created xsi:type="dcterms:W3CDTF">2026-09-01T18:58:04Z</dcterms:created>
  <dcterms:modified xsi:type="dcterms:W3CDTF">2026-09-01T21:51:05Z</dcterms:modified>
</cp:coreProperties>
</file>